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4008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4C82F7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640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389888" y="822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BA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 AGENT SECURITY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21792" y="214884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0" b="1" spc="-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Guard</a:t>
            </a:r>
            <a:endParaRPr lang="en-US" sz="7600" dirty="0"/>
          </a:p>
        </p:txBody>
      </p:sp>
      <p:sp>
        <p:nvSpPr>
          <p:cNvPr id="6" name="Text 4"/>
          <p:cNvSpPr/>
          <p:nvPr/>
        </p:nvSpPr>
        <p:spPr>
          <a:xfrm>
            <a:off x="658368" y="352044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9BA7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runtime authorization firewall that evaluates </a:t>
            </a:r>
            <a:pPr algn="l"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EA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autonomous-agent action</a:t>
            </a:r>
            <a:pPr algn="l"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9BA7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against the user's goal, policy, and risk — </a:t>
            </a:r>
            <a:pPr algn="l"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EA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it executes.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58368" y="5074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C8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/guard/evaluate  →  ALLOW · ASK · DENY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58368" y="5827471"/>
            <a:ext cx="115672" cy="115672"/>
          </a:xfrm>
          <a:prstGeom prst="ellipse">
            <a:avLst/>
          </a:prstGeom>
          <a:solidFill>
            <a:srgbClr val="35D08A"/>
          </a:solidFill>
          <a:ln/>
        </p:spPr>
      </p:sp>
      <p:sp>
        <p:nvSpPr>
          <p:cNvPr id="9" name="Text 7"/>
          <p:cNvSpPr/>
          <p:nvPr/>
        </p:nvSpPr>
        <p:spPr>
          <a:xfrm>
            <a:off x="826618" y="5743346"/>
            <a:ext cx="1156716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65" b="1" spc="100" kern="0" dirty="0">
                <a:solidFill>
                  <a:srgbClr val="35D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ALLOW</a:t>
            </a:r>
            <a:endParaRPr lang="en-US" sz="1265" dirty="0"/>
          </a:p>
        </p:txBody>
      </p:sp>
      <p:sp>
        <p:nvSpPr>
          <p:cNvPr id="10" name="Shape 8"/>
          <p:cNvSpPr/>
          <p:nvPr/>
        </p:nvSpPr>
        <p:spPr>
          <a:xfrm>
            <a:off x="1867662" y="5827471"/>
            <a:ext cx="115672" cy="115672"/>
          </a:xfrm>
          <a:prstGeom prst="ellipse">
            <a:avLst/>
          </a:prstGeom>
          <a:solidFill>
            <a:srgbClr val="F2B04A"/>
          </a:solidFill>
          <a:ln/>
        </p:spPr>
      </p:sp>
      <p:sp>
        <p:nvSpPr>
          <p:cNvPr id="11" name="Text 9"/>
          <p:cNvSpPr/>
          <p:nvPr/>
        </p:nvSpPr>
        <p:spPr>
          <a:xfrm>
            <a:off x="2035912" y="5743346"/>
            <a:ext cx="1156716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65" b="1" spc="100" kern="0" dirty="0">
                <a:solidFill>
                  <a:srgbClr val="F2B0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ASK</a:t>
            </a:r>
            <a:endParaRPr lang="en-US" sz="1265" dirty="0"/>
          </a:p>
        </p:txBody>
      </p:sp>
      <p:sp>
        <p:nvSpPr>
          <p:cNvPr id="12" name="Shape 10"/>
          <p:cNvSpPr/>
          <p:nvPr/>
        </p:nvSpPr>
        <p:spPr>
          <a:xfrm>
            <a:off x="3076956" y="5827471"/>
            <a:ext cx="115672" cy="115672"/>
          </a:xfrm>
          <a:prstGeom prst="ellipse">
            <a:avLst/>
          </a:prstGeom>
          <a:solidFill>
            <a:srgbClr val="F0645F"/>
          </a:solidFill>
          <a:ln/>
        </p:spPr>
      </p:sp>
      <p:sp>
        <p:nvSpPr>
          <p:cNvPr id="13" name="Text 11"/>
          <p:cNvSpPr/>
          <p:nvPr/>
        </p:nvSpPr>
        <p:spPr>
          <a:xfrm>
            <a:off x="3245206" y="5743346"/>
            <a:ext cx="1156716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65" b="1" spc="100" kern="0" dirty="0">
                <a:solidFill>
                  <a:srgbClr val="F064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DENY</a:t>
            </a:r>
            <a:endParaRPr lang="en-US" sz="1265" dirty="0"/>
          </a:p>
        </p:txBody>
      </p:sp>
      <p:sp>
        <p:nvSpPr>
          <p:cNvPr id="14" name="Text 12"/>
          <p:cNvSpPr/>
          <p:nvPr/>
        </p:nvSpPr>
        <p:spPr>
          <a:xfrm>
            <a:off x="8787384" y="57790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Hackathon submission · v0.8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C8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5E6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GUARD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616184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58368" y="1234440"/>
            <a:ext cx="10881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3300" b="1" dirty="0">
                <a:solidFill>
                  <a:srgbClr val="EA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Permission systems check </a:t>
            </a:r>
            <a:pPr algn="l" indent="0" marL="0">
              <a:lnSpc>
                <a:spcPct val="106000"/>
              </a:lnSpc>
              <a:buNone/>
            </a:pPr>
            <a:r>
              <a:rPr lang="en-US" sz="3300" b="1" i="1" dirty="0">
                <a:solidFill>
                  <a:srgbClr val="4C8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</a:t>
            </a:r>
            <a:pPr algn="l" indent="0" marL="0">
              <a:lnSpc>
                <a:spcPct val="106000"/>
              </a:lnSpc>
              <a:buNone/>
            </a:pPr>
            <a:r>
              <a:rPr lang="en-US" sz="3300" b="1" dirty="0">
                <a:solidFill>
                  <a:srgbClr val="EA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tool can touch —</a:t>
            </a:r>
            <a:endParaRPr lang="en-US" sz="33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3300" b="1" dirty="0">
                <a:solidFill>
                  <a:srgbClr val="EA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</a:t>
            </a:r>
            <a:endParaRPr lang="en-US" sz="33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3300" b="1" i="1" dirty="0">
                <a:solidFill>
                  <a:srgbClr val="4C8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whether</a:t>
            </a:r>
            <a:pPr algn="l" indent="0" marL="0">
              <a:lnSpc>
                <a:spcPct val="106000"/>
              </a:lnSpc>
              <a:buNone/>
            </a:pPr>
            <a:r>
              <a:rPr lang="en-US" sz="3300" b="1" dirty="0">
                <a:solidFill>
                  <a:srgbClr val="EA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action still serves your goal.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658368" y="29260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BA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CODING AGENT, ALREADY GRANTED FILESYSTEM ACCESS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58368" y="3429000"/>
            <a:ext cx="2615184" cy="1417320"/>
          </a:xfrm>
          <a:prstGeom prst="rect">
            <a:avLst/>
          </a:prstGeom>
          <a:solidFill>
            <a:srgbClr val="121826"/>
          </a:solidFill>
          <a:ln w="12700">
            <a:solidFill>
              <a:srgbClr val="232C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" y="3611880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E6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59536" y="3977640"/>
            <a:ext cx="22128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9BA7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React frontend. Don't touch secrets.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3290377" y="4133088"/>
            <a:ext cx="106558" cy="0"/>
          </a:xfrm>
          <a:prstGeom prst="line">
            <a:avLst/>
          </a:prstGeom>
          <a:noFill/>
          <a:ln w="19050">
            <a:solidFill>
              <a:srgbClr val="2E3A5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413760" y="3429000"/>
            <a:ext cx="2615184" cy="1417320"/>
          </a:xfrm>
          <a:prstGeom prst="rect">
            <a:avLst/>
          </a:prstGeom>
          <a:solidFill>
            <a:srgbClr val="121826"/>
          </a:solidFill>
          <a:ln w="12700">
            <a:solidFill>
              <a:srgbClr val="232C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14928" y="3611880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E6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614928" y="3977640"/>
            <a:ext cx="22128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A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  .env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045769" y="4133088"/>
            <a:ext cx="106558" cy="0"/>
          </a:xfrm>
          <a:prstGeom prst="line">
            <a:avLst/>
          </a:prstGeom>
          <a:noFill/>
          <a:ln w="19050">
            <a:solidFill>
              <a:srgbClr val="2E3A5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169152" y="3429000"/>
            <a:ext cx="2615184" cy="1417320"/>
          </a:xfrm>
          <a:prstGeom prst="rect">
            <a:avLst/>
          </a:prstGeom>
          <a:solidFill>
            <a:srgbClr val="121826"/>
          </a:solidFill>
          <a:ln w="12700">
            <a:solidFill>
              <a:srgbClr val="232C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70320" y="3611880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E6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LEGACY AUTH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370320" y="3977640"/>
            <a:ext cx="22128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9BA7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filesystem access granted  →  allowed  ✓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801161" y="4133088"/>
            <a:ext cx="106558" cy="0"/>
          </a:xfrm>
          <a:prstGeom prst="line">
            <a:avLst/>
          </a:prstGeom>
          <a:noFill/>
          <a:ln w="19050">
            <a:solidFill>
              <a:srgbClr val="2E3A5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924544" y="3429000"/>
            <a:ext cx="2615184" cy="1417320"/>
          </a:xfrm>
          <a:prstGeom prst="rect">
            <a:avLst/>
          </a:prstGeom>
          <a:solidFill>
            <a:srgbClr val="1B1114"/>
          </a:solidFill>
          <a:ln w="12700">
            <a:solidFill>
              <a:srgbClr val="232C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24544" y="3429000"/>
            <a:ext cx="2615184" cy="1417320"/>
          </a:xfrm>
          <a:prstGeom prst="rect">
            <a:avLst/>
          </a:prstGeom>
          <a:ln w="17780">
            <a:solidFill>
              <a:srgbClr val="F064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25712" y="3611880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F064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125712" y="3977640"/>
            <a:ext cx="22128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06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keys read and exfiltrated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58368" y="51206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BA7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 had permission. Nothing re-checked the action against the user's intent, at runtime, before it ran.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C8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5E6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GUARD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616184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58368" y="1234440"/>
            <a:ext cx="1088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7000"/>
              </a:lnSpc>
              <a:buNone/>
            </a:pPr>
            <a:r>
              <a:rPr lang="en-US" sz="3100" b="1" dirty="0">
                <a:solidFill>
                  <a:srgbClr val="EA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prompt now fans out into dozens of tool calls —</a:t>
            </a:r>
            <a:endParaRPr lang="en-US" sz="3100" dirty="0"/>
          </a:p>
          <a:p>
            <a:pPr indent="0" marL="0">
              <a:lnSpc>
                <a:spcPct val="107000"/>
              </a:lnSpc>
              <a:buNone/>
            </a:pPr>
            <a:r>
              <a:rPr lang="en-US" sz="3100" b="1" dirty="0">
                <a:solidFill>
                  <a:srgbClr val="EA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able to touch files, secrets, and the network.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658368" y="4215384"/>
            <a:ext cx="1828800" cy="786384"/>
          </a:xfrm>
          <a:prstGeom prst="rect">
            <a:avLst/>
          </a:prstGeom>
          <a:solidFill>
            <a:srgbClr val="121826"/>
          </a:solidFill>
          <a:ln w="12700">
            <a:solidFill>
              <a:srgbClr val="232C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4215384"/>
            <a:ext cx="18288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A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prompt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990088" y="4215384"/>
            <a:ext cx="1737360" cy="786384"/>
          </a:xfrm>
          <a:prstGeom prst="rect">
            <a:avLst/>
          </a:prstGeom>
          <a:solidFill>
            <a:srgbClr val="121826"/>
          </a:solidFill>
          <a:ln w="12700">
            <a:solidFill>
              <a:srgbClr val="232C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90088" y="4215384"/>
            <a:ext cx="1737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A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505456" y="4608576"/>
            <a:ext cx="457200" cy="0"/>
          </a:xfrm>
          <a:prstGeom prst="line">
            <a:avLst/>
          </a:prstGeom>
          <a:noFill/>
          <a:ln w="19050">
            <a:solidFill>
              <a:srgbClr val="2E3A5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727448" y="4608576"/>
            <a:ext cx="457200" cy="-1536192"/>
          </a:xfrm>
          <a:prstGeom prst="line">
            <a:avLst/>
          </a:prstGeom>
          <a:noFill/>
          <a:ln w="15240">
            <a:solidFill>
              <a:srgbClr val="2E3A50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184648" y="2788920"/>
            <a:ext cx="1316736" cy="566928"/>
          </a:xfrm>
          <a:prstGeom prst="rect">
            <a:avLst/>
          </a:prstGeom>
          <a:solidFill>
            <a:srgbClr val="121826"/>
          </a:solidFill>
          <a:ln w="12700">
            <a:solidFill>
              <a:srgbClr val="232C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84648" y="2862072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C8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184648" y="3099816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E6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27448" y="4608576"/>
            <a:ext cx="457200" cy="-768096"/>
          </a:xfrm>
          <a:prstGeom prst="line">
            <a:avLst/>
          </a:prstGeom>
          <a:noFill/>
          <a:ln w="15240">
            <a:solidFill>
              <a:srgbClr val="2E3A5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184648" y="3557016"/>
            <a:ext cx="1316736" cy="566928"/>
          </a:xfrm>
          <a:prstGeom prst="rect">
            <a:avLst/>
          </a:prstGeom>
          <a:solidFill>
            <a:srgbClr val="121826"/>
          </a:solidFill>
          <a:ln w="12700">
            <a:solidFill>
              <a:srgbClr val="232C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84648" y="3630168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C8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184648" y="3867912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E6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27448" y="4608576"/>
            <a:ext cx="457200" cy="0"/>
          </a:xfrm>
          <a:prstGeom prst="line">
            <a:avLst/>
          </a:prstGeom>
          <a:noFill/>
          <a:ln w="15240">
            <a:solidFill>
              <a:srgbClr val="2E3A5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184648" y="4325112"/>
            <a:ext cx="1316736" cy="566928"/>
          </a:xfrm>
          <a:prstGeom prst="rect">
            <a:avLst/>
          </a:prstGeom>
          <a:solidFill>
            <a:srgbClr val="121826"/>
          </a:solidFill>
          <a:ln w="12700">
            <a:solidFill>
              <a:srgbClr val="232C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84648" y="4398264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C8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184648" y="4636008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E6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27448" y="4608576"/>
            <a:ext cx="457200" cy="768096"/>
          </a:xfrm>
          <a:prstGeom prst="line">
            <a:avLst/>
          </a:prstGeom>
          <a:noFill/>
          <a:ln w="15240">
            <a:solidFill>
              <a:srgbClr val="2E3A50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5184648" y="5093208"/>
            <a:ext cx="1316736" cy="566928"/>
          </a:xfrm>
          <a:prstGeom prst="rect">
            <a:avLst/>
          </a:prstGeom>
          <a:solidFill>
            <a:srgbClr val="121826"/>
          </a:solidFill>
          <a:ln w="12700">
            <a:solidFill>
              <a:srgbClr val="232C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84648" y="5166360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C8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184648" y="5404104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E6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command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27448" y="4608576"/>
            <a:ext cx="457200" cy="1536192"/>
          </a:xfrm>
          <a:prstGeom prst="line">
            <a:avLst/>
          </a:prstGeom>
          <a:noFill/>
          <a:ln w="15240">
            <a:solidFill>
              <a:srgbClr val="2E3A50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5184648" y="5861304"/>
            <a:ext cx="1316736" cy="566928"/>
          </a:xfrm>
          <a:prstGeom prst="rect">
            <a:avLst/>
          </a:prstGeom>
          <a:solidFill>
            <a:srgbClr val="121826"/>
          </a:solidFill>
          <a:ln w="12700">
            <a:solidFill>
              <a:srgbClr val="232C3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84648" y="5934456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C8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184648" y="6172200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E6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050024" y="29718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50" kern="0" dirty="0">
                <a:solidFill>
                  <a:srgbClr val="9BA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· multi-step · no human in the loop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7050024" y="3520440"/>
            <a:ext cx="3840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9BA7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auth grants a capability </a:t>
            </a:r>
            <a:pPr indent="0" marL="0">
              <a:lnSpc>
                <a:spcPct val="118000"/>
              </a:lnSpc>
              <a:buNone/>
            </a:pPr>
            <a:r>
              <a:rPr lang="en-US" sz="1400" b="1" dirty="0">
                <a:solidFill>
                  <a:srgbClr val="EA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</a:t>
            </a:r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9BA7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9BA7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re-evaluates each individual action at the moment it runs — where goal drift, secret access, and exfiltration actually happen.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C8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5E6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GUARD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616184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58368" y="118872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2600" b="1" dirty="0">
                <a:solidFill>
                  <a:srgbClr val="EA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Guard sits between the agent and its tools —</a:t>
            </a:r>
            <a:endParaRPr lang="en-US" sz="26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2600" b="1" dirty="0">
                <a:solidFill>
                  <a:srgbClr val="EA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rules on every proposed action before it executes.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58368" y="2697480"/>
            <a:ext cx="4206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35D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ALLOW</a:t>
            </a:r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9BA7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relevant, in-scope, low risk → runs.
</a:t>
            </a:r>
            <a:pPr indent="0" marL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F2B0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ASK</a:t>
            </a:r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9BA7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sensitive or destructive → a human decides.
</a:t>
            </a:r>
            <a:pPr indent="0" marL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F064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DENY</a:t>
            </a:r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9BA7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secret, out-of-scope, exfiltration → blocked.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58368" y="4709160"/>
            <a:ext cx="4160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9BA7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carries a risk score, an explainable reason, and a redacted audit record.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230368" y="2304288"/>
            <a:ext cx="6318504" cy="3916065"/>
          </a:xfrm>
          <a:prstGeom prst="rect">
            <a:avLst/>
          </a:prstGeom>
          <a:solidFill>
            <a:srgbClr val="121826"/>
          </a:solidFill>
          <a:ln w="12700">
            <a:solidFill>
              <a:srgbClr val="2E3A50"/>
            </a:solidFill>
            <a:prstDash val="solid"/>
          </a:ln>
        </p:spPr>
      </p:sp>
      <p:pic>
        <p:nvPicPr>
          <p:cNvPr id="9" name="Image 0" descr="/Users/kavinsoorya/Documents/Agent-Guard/submission/assets/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7800" y="2331720"/>
            <a:ext cx="6263640" cy="3861201"/>
          </a:xfrm>
          <a:prstGeom prst="rect">
            <a:avLst/>
          </a:prstGeom>
          <a:effectLst>
            <a:outerShdw sx="100000" sy="100000" kx="0" ky="0" algn="bl" rotWithShape="0" blurRad="177800" dist="88900" dir="5400000">
              <a:srgbClr val="000000">
                <a:alpha val="45000"/>
              </a:srgbClr>
            </a:outerShdw>
          </a:effectLst>
        </p:spPr>
      </p:pic>
      <p:sp>
        <p:nvSpPr>
          <p:cNvPr id="10" name="Text 7"/>
          <p:cNvSpPr/>
          <p:nvPr/>
        </p:nvSpPr>
        <p:spPr>
          <a:xfrm>
            <a:off x="5257800" y="6263640"/>
            <a:ext cx="6263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E6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runtime monitor — a real Antigravity MCP session, every call evaluated.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C8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5E6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GUARD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616184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58368" y="11887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A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tool call is intercepted, evaluated, and executed only if authorized.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58368" y="2286000"/>
            <a:ext cx="2286000" cy="822960"/>
          </a:xfrm>
          <a:prstGeom prst="rect">
            <a:avLst/>
          </a:prstGeom>
          <a:solidFill>
            <a:srgbClr val="121826"/>
          </a:solidFill>
          <a:ln w="12700">
            <a:solidFill>
              <a:srgbClr val="232C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2423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A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58368" y="2743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E6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Antigravity · Claude Code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944368" y="2697480"/>
            <a:ext cx="457200" cy="0"/>
          </a:xfrm>
          <a:prstGeom prst="line">
            <a:avLst/>
          </a:prstGeom>
          <a:noFill/>
          <a:ln w="19050">
            <a:solidFill>
              <a:srgbClr val="2E3A5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401568" y="2286000"/>
            <a:ext cx="2468880" cy="822960"/>
          </a:xfrm>
          <a:prstGeom prst="rect">
            <a:avLst/>
          </a:prstGeom>
          <a:solidFill>
            <a:srgbClr val="121826"/>
          </a:solidFill>
          <a:ln w="12700">
            <a:solidFill>
              <a:srgbClr val="232C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01568" y="24231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A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 / SDK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401568" y="27432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E6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GuardedExecutor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870448" y="2697480"/>
            <a:ext cx="457200" cy="0"/>
          </a:xfrm>
          <a:prstGeom prst="line">
            <a:avLst/>
          </a:prstGeom>
          <a:noFill/>
          <a:ln w="19050">
            <a:solidFill>
              <a:srgbClr val="2E3A5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327648" y="2286000"/>
            <a:ext cx="2743200" cy="822960"/>
          </a:xfrm>
          <a:prstGeom prst="rect">
            <a:avLst/>
          </a:prstGeom>
          <a:solidFill>
            <a:srgbClr val="121826"/>
          </a:solidFill>
          <a:ln w="12700">
            <a:solidFill>
              <a:srgbClr val="232C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27648" y="2423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A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/guard/evaluate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327648" y="2743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E6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 + goal + payload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327648" y="19568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4C8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intercept BEFORE execution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58368" y="3703320"/>
            <a:ext cx="7589520" cy="1874520"/>
          </a:xfrm>
          <a:prstGeom prst="rect">
            <a:avLst/>
          </a:prstGeom>
          <a:solidFill>
            <a:srgbClr val="0E1522"/>
          </a:solidFill>
          <a:ln w="12700">
            <a:solidFill>
              <a:srgbClr val="232C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3703320"/>
            <a:ext cx="7589520" cy="1874520"/>
          </a:xfrm>
          <a:prstGeom prst="rect">
            <a:avLst/>
          </a:prstGeom>
          <a:ln w="16510">
            <a:solidFill>
              <a:srgbClr val="4C82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3886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C8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ENGINE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14400" y="425196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EA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DETERMINISTIC GATES  — the authority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14400" y="4599432"/>
            <a:ext cx="1371600" cy="384048"/>
          </a:xfrm>
          <a:prstGeom prst="rect">
            <a:avLst/>
          </a:prstGeom>
          <a:solidFill>
            <a:srgbClr val="121826"/>
          </a:solidFill>
          <a:ln w="12700">
            <a:solidFill>
              <a:srgbClr val="232C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459943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BA7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secret_exfil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359152" y="4599432"/>
            <a:ext cx="1371600" cy="384048"/>
          </a:xfrm>
          <a:prstGeom prst="rect">
            <a:avLst/>
          </a:prstGeom>
          <a:solidFill>
            <a:srgbClr val="121826"/>
          </a:solidFill>
          <a:ln w="12700">
            <a:solidFill>
              <a:srgbClr val="232C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359152" y="459943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BA7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protected_resource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803904" y="4599432"/>
            <a:ext cx="1371600" cy="384048"/>
          </a:xfrm>
          <a:prstGeom prst="rect">
            <a:avLst/>
          </a:prstGeom>
          <a:solidFill>
            <a:srgbClr val="121826"/>
          </a:solidFill>
          <a:ln w="12700">
            <a:solidFill>
              <a:srgbClr val="232C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03904" y="459943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BA7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policy_scope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248656" y="4599432"/>
            <a:ext cx="1371600" cy="384048"/>
          </a:xfrm>
          <a:prstGeom prst="rect">
            <a:avLst/>
          </a:prstGeom>
          <a:solidFill>
            <a:srgbClr val="121826"/>
          </a:solidFill>
          <a:ln w="12700">
            <a:solidFill>
              <a:srgbClr val="232C3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48656" y="459943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BA7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destructive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693408" y="4599432"/>
            <a:ext cx="1371600" cy="384048"/>
          </a:xfrm>
          <a:prstGeom prst="rect">
            <a:avLst/>
          </a:prstGeom>
          <a:solidFill>
            <a:srgbClr val="121826"/>
          </a:solidFill>
          <a:ln w="12700">
            <a:solidFill>
              <a:srgbClr val="232C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93408" y="459943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BA7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external_comm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914400" y="512064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GOAL-AWARE LLM ADVISOR </a:t>
            </a:r>
            <a:pPr indent="0" marL="0">
              <a:buNone/>
            </a:pPr>
            <a:r>
              <a:rPr lang="en-US" sz="1200" dirty="0">
                <a:solidFill>
                  <a:srgbClr val="9BA7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advisory only: may escalate ALLOW→ASK, never override a DENY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247888" y="4640580"/>
            <a:ext cx="384048" cy="0"/>
          </a:xfrm>
          <a:prstGeom prst="line">
            <a:avLst/>
          </a:prstGeom>
          <a:noFill/>
          <a:ln w="19050">
            <a:solidFill>
              <a:srgbClr val="2E3A50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9025128" y="3749040"/>
            <a:ext cx="2514600" cy="566928"/>
          </a:xfrm>
          <a:prstGeom prst="rect">
            <a:avLst/>
          </a:prstGeom>
          <a:solidFill>
            <a:srgbClr val="101A12"/>
          </a:solidFill>
          <a:ln w="15240">
            <a:solidFill>
              <a:srgbClr val="35D08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025128" y="374904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5D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ALLOW </a:t>
            </a:r>
            <a:pPr algn="ctr" indent="0" marL="0">
              <a:buNone/>
            </a:pPr>
            <a:r>
              <a:rPr lang="en-US" sz="1300" b="1" dirty="0">
                <a:solidFill>
                  <a:srgbClr val="F2B0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ASK </a:t>
            </a:r>
            <a:pPr algn="ctr" indent="0" marL="0">
              <a:buNone/>
            </a:pPr>
            <a:r>
              <a:rPr lang="en-US" sz="1300" b="1" dirty="0">
                <a:solidFill>
                  <a:srgbClr val="F064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DENY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10277856" y="4343400"/>
            <a:ext cx="0" cy="320040"/>
          </a:xfrm>
          <a:prstGeom prst="line">
            <a:avLst/>
          </a:prstGeom>
          <a:noFill/>
          <a:ln w="19050">
            <a:solidFill>
              <a:srgbClr val="2E3A50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9025128" y="4709160"/>
            <a:ext cx="2514600" cy="384048"/>
          </a:xfrm>
          <a:prstGeom prst="rect">
            <a:avLst/>
          </a:prstGeom>
          <a:solidFill>
            <a:srgbClr val="121826"/>
          </a:solidFill>
          <a:ln w="12700">
            <a:solidFill>
              <a:srgbClr val="232C3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025128" y="470916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if authorized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10277856" y="5120640"/>
            <a:ext cx="0" cy="182880"/>
          </a:xfrm>
          <a:prstGeom prst="line">
            <a:avLst/>
          </a:prstGeom>
          <a:noFill/>
          <a:ln w="19050">
            <a:solidFill>
              <a:srgbClr val="2E3A50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9025128" y="5330952"/>
            <a:ext cx="2514600" cy="384048"/>
          </a:xfrm>
          <a:prstGeom prst="rect">
            <a:avLst/>
          </a:prstGeom>
          <a:solidFill>
            <a:srgbClr val="121826"/>
          </a:solidFill>
          <a:ln w="12700">
            <a:solidFill>
              <a:srgbClr val="232C3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025128" y="5330952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BA7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+ approval (redacted)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C8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INNOVATION ·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5E6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GUARD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616184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58368" y="11887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EA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LLM advises. Deterministic gates decide.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658368" y="19659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9BA7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"AI security" asks a model for a verdict. A model can be wrong, prompt-injected, or unavailable. Agent Guard never lets it be the boundary.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58368" y="3017520"/>
            <a:ext cx="5257800" cy="2788920"/>
          </a:xfrm>
          <a:prstGeom prst="rect">
            <a:avLst/>
          </a:prstGeom>
          <a:solidFill>
            <a:srgbClr val="0E1522"/>
          </a:solidFill>
          <a:ln w="12700">
            <a:solidFill>
              <a:srgbClr val="232C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3017520"/>
            <a:ext cx="5257800" cy="2788920"/>
          </a:xfrm>
          <a:prstGeom prst="rect">
            <a:avLst/>
          </a:prstGeom>
          <a:ln w="15240">
            <a:solidFill>
              <a:srgbClr val="4C82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3273552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4C8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GATES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32688" y="3584448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BA7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Authoritative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32688" y="3977640"/>
            <a:ext cx="4754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4C8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A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Glob-matched protected files (.env, keys, creds)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32688" y="4398264"/>
            <a:ext cx="4754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4C8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A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Goal-scope + destructive-action rules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932688" y="4818888"/>
            <a:ext cx="4754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4C8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A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/ PII / financial detection (regex + entropy, Luhn, Verhoeff)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32688" y="5239512"/>
            <a:ext cx="4754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4C8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A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Exfiltration: sensitive data + external destination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81928" y="3017520"/>
            <a:ext cx="5257800" cy="2788920"/>
          </a:xfrm>
          <a:prstGeom prst="rect">
            <a:avLst/>
          </a:prstGeom>
          <a:solidFill>
            <a:srgbClr val="121826"/>
          </a:solidFill>
          <a:ln w="12700">
            <a:solidFill>
              <a:srgbClr val="232C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56248" y="3273552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9BA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GOAL-AWARE LLM ADVISOR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56248" y="3584448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E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556248" y="3977640"/>
            <a:ext cx="4754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5E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buNone/>
            </a:pPr>
            <a:r>
              <a:rPr lang="en-US" sz="1250" dirty="0">
                <a:solidFill>
                  <a:srgbClr val="9BA7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Rates goal↔action relevance; flags goal drift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556248" y="4398264"/>
            <a:ext cx="4754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5E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buNone/>
            </a:pPr>
            <a:r>
              <a:rPr lang="en-US" sz="1250" dirty="0">
                <a:solidFill>
                  <a:srgbClr val="9BA7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escalate a borderline ALLOW → ASK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556248" y="4818888"/>
            <a:ext cx="4754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5E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buNone/>
            </a:pPr>
            <a:r>
              <a:rPr lang="en-US" sz="1250" b="1" dirty="0">
                <a:solidFill>
                  <a:srgbClr val="EA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NEVER turn a DENY into ALLOW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556248" y="5239512"/>
            <a:ext cx="4754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5E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buNone/>
            </a:pPr>
            <a:r>
              <a:rPr lang="en-US" sz="1250" b="1" dirty="0">
                <a:solidFill>
                  <a:srgbClr val="EA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categories only — never the raw payload or secret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58368" y="59893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C8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= max-severity( deterministic , advisory )   —   a hard DENY is final.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C8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INNOVATION ·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5E6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GUARD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616184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58368" y="118872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900" b="1" dirty="0">
                <a:solidFill>
                  <a:srgbClr val="EA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approval is bound to the exact action — it can't be reused for another.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658368" y="22860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C8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fingerprint = SHA-256( goal + policy + operation + resource + destination + payload-hash + context 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58368" y="3063240"/>
            <a:ext cx="5257800" cy="2743200"/>
          </a:xfrm>
          <a:prstGeom prst="rect">
            <a:avLst/>
          </a:prstGeom>
          <a:solidFill>
            <a:srgbClr val="101A12"/>
          </a:solidFill>
          <a:ln w="12700">
            <a:solidFill>
              <a:srgbClr val="232C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3063240"/>
            <a:ext cx="5257800" cy="2743200"/>
          </a:xfrm>
          <a:prstGeom prst="rect">
            <a:avLst/>
          </a:prstGeom>
          <a:ln w="15240">
            <a:solidFill>
              <a:srgbClr val="35D0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329184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35D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APPROVES  ·  ASK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32688" y="3721608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  src/generated.jsx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32688" y="416052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A7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fingerprint  af_9c31…8b0c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32688" y="4544568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A7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APPROVED, bound to this fingerprint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32688" y="5074920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A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 with the SAME action → re-verified → executes exactly once.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81928" y="3063240"/>
            <a:ext cx="5257800" cy="2743200"/>
          </a:xfrm>
          <a:prstGeom prst="rect">
            <a:avLst/>
          </a:prstGeom>
          <a:solidFill>
            <a:srgbClr val="1B1114"/>
          </a:solidFill>
          <a:ln w="12700">
            <a:solidFill>
              <a:srgbClr val="232C3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81928" y="3063240"/>
            <a:ext cx="5257800" cy="2743200"/>
          </a:xfrm>
          <a:prstGeom prst="rect">
            <a:avLst/>
          </a:prstGeom>
          <a:ln w="15240">
            <a:solidFill>
              <a:srgbClr val="F064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56248" y="329184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064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ATTACKER REUSES THE APPROVAL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56248" y="3721608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  database.sql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556248" y="416052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A7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fingerprint  af_5f0a…d19e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56248" y="4544568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64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MISMATCH — the approval does not apply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56248" y="5074920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06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A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the tool is never called. Same defense stops replay, expiry, and post-approval edits.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C8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IMPLEMENTATION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5E6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GUARD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616184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58368" y="11887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a built system, not a slide — verified end-to-end.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58368" y="233172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205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2715768" y="2459736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9BA7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passing (189 backend · 16 frontend)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58368" y="3410712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2715768" y="3538728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9BA7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security gates, authoritative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58368" y="4489704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2715768" y="461772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9BA7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guarded MCP tools exposed to the IDE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90488" y="2331720"/>
            <a:ext cx="0" cy="3063240"/>
          </a:xfrm>
          <a:prstGeom prst="line">
            <a:avLst/>
          </a:prstGeom>
          <a:noFill/>
          <a:ln w="12700">
            <a:solidFill>
              <a:srgbClr val="232C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01968" y="2286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C8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SHIPPED MODULES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601968" y="26974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A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decision engine</a:t>
            </a:r>
            <a:pPr indent="0" marL="0">
              <a:buNone/>
            </a:pPr>
            <a:r>
              <a:rPr lang="en-US" sz="1300" dirty="0">
                <a:solidFill>
                  <a:srgbClr val="5E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gates · risk scoring · goal compiler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601968" y="3140964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A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service</a:t>
            </a:r>
            <a:pPr indent="0" marL="0">
              <a:buNone/>
            </a:pPr>
            <a:r>
              <a:rPr lang="en-US" sz="1300" dirty="0">
                <a:solidFill>
                  <a:srgbClr val="5E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auth · rate limit · security headers · fail-closed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601968" y="358444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A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SDK</a:t>
            </a:r>
            <a:pPr indent="0" marL="0">
              <a:buNone/>
            </a:pPr>
            <a:r>
              <a:rPr lang="en-US" sz="1300" dirty="0">
                <a:solidFill>
                  <a:srgbClr val="5E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GuardedExecutor enforces the verdict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601968" y="4027932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A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</a:t>
            </a:r>
            <a:pPr indent="0" marL="0">
              <a:buNone/>
            </a:pPr>
            <a:r>
              <a:rPr lang="en-US" sz="1300" dirty="0">
                <a:solidFill>
                  <a:srgbClr val="5E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real Antigravity IDE integration over stdio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601968" y="4471416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A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detectors</a:t>
            </a:r>
            <a:pPr indent="0" marL="0">
              <a:buNone/>
            </a:pPr>
            <a:r>
              <a:rPr lang="en-US" sz="1300" dirty="0">
                <a:solidFill>
                  <a:srgbClr val="5E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secrets · PII (Verhoeff) · financial (Luhn)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601968" y="49149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A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dashboard + Docker</a:t>
            </a:r>
            <a:pPr indent="0" marL="0">
              <a:buNone/>
            </a:pPr>
            <a:r>
              <a:rPr lang="en-US" sz="1300" dirty="0">
                <a:solidFill>
                  <a:srgbClr val="5E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one-command deploy, persistent audit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C8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· PERFORMANCE · SCALE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5E6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GUARD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616184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58368" y="11887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A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Sub-millisecond decisions. Zero secret leakage. Fail-closed by design.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58368" y="2514600"/>
            <a:ext cx="3383280" cy="1965960"/>
          </a:xfrm>
          <a:prstGeom prst="rect">
            <a:avLst/>
          </a:prstGeom>
          <a:solidFill>
            <a:srgbClr val="121826"/>
          </a:solidFill>
          <a:ln w="12700">
            <a:solidFill>
              <a:srgbClr val="232C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283464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0.10</a:t>
            </a:r>
            <a:pPr algn="l" indent="0" marL="0">
              <a:buNone/>
            </a:pPr>
            <a:r>
              <a:rPr lang="en-US" sz="2000" b="1" dirty="0">
                <a:solidFill>
                  <a:srgbClr val="4C8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ms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932688" y="374904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p95 decision latency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32688" y="405079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6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deterministic engine, offline advisor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407408" y="2514600"/>
            <a:ext cx="3383280" cy="1965960"/>
          </a:xfrm>
          <a:prstGeom prst="rect">
            <a:avLst/>
          </a:prstGeom>
          <a:solidFill>
            <a:srgbClr val="121826"/>
          </a:solidFill>
          <a:ln w="12700">
            <a:solidFill>
              <a:srgbClr val="232C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81728" y="283464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21,700</a:t>
            </a:r>
            <a:pPr algn="l" indent="0" marL="0">
              <a:buNone/>
            </a:pPr>
            <a:r>
              <a:rPr lang="en-US" sz="2000" b="1" dirty="0">
                <a:solidFill>
                  <a:srgbClr val="4C8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/s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4681728" y="374904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evaluations per second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81728" y="405079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6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single thread, n = 20,000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56448" y="2514600"/>
            <a:ext cx="3383280" cy="1965960"/>
          </a:xfrm>
          <a:prstGeom prst="rect">
            <a:avLst/>
          </a:prstGeom>
          <a:solidFill>
            <a:srgbClr val="121826"/>
          </a:solidFill>
          <a:ln w="12700">
            <a:solidFill>
              <a:srgbClr val="232C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30768" y="283464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pPr algn="l" indent="0" marL="0">
              <a:buNone/>
            </a:pPr>
            <a:r>
              <a:rPr lang="en-US" sz="2000" b="1" dirty="0">
                <a:solidFill>
                  <a:srgbClr val="4C8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raw</a:t>
            </a:r>
            <a:endParaRPr lang="en-US" sz="5200" dirty="0"/>
          </a:p>
        </p:txBody>
      </p:sp>
      <p:sp>
        <p:nvSpPr>
          <p:cNvPr id="16" name="Text 14"/>
          <p:cNvSpPr/>
          <p:nvPr/>
        </p:nvSpPr>
        <p:spPr>
          <a:xfrm>
            <a:off x="8430768" y="374904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in response, audit, or DB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430768" y="405079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6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only redacted fingerprints persist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58368" y="4892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C8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SCALES BECAUSE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8368" y="52578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engine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58368" y="5559552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9BA7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functions; horizontally scalable behind the API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407408" y="52578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Pluggable stores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407408" y="5559552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9BA7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AuditStore / ApprovalStore interfaces — SQLite → Postgres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156448" y="52578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Fail-closed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8156448" y="5559552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9BA7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error, timeout, or malformed response → block, never allow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C8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IDE INTEGRATION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5E6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GUARD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616184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58368" y="1188720"/>
            <a:ext cx="5623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400" b="1" dirty="0">
                <a:solidFill>
                  <a:srgbClr val="EA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Wired into a real IDE: Antigravity's tool calls flow through Agent Guard over MCP.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58368" y="278892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9BA7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</a:t>
            </a:r>
            <a:pPr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EA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/ write / delete / command / network</a:t>
            </a:r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9BA7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call the agent makes is evaluated first.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58368" y="3758184"/>
            <a:ext cx="91440" cy="91440"/>
          </a:xfrm>
          <a:prstGeom prst="ellipse">
            <a:avLst/>
          </a:prstGeom>
          <a:solidFill>
            <a:srgbClr val="4C82F7"/>
          </a:solidFill>
          <a:ln/>
        </p:spPr>
      </p:sp>
      <p:sp>
        <p:nvSpPr>
          <p:cNvPr id="8" name="Text 6"/>
          <p:cNvSpPr/>
          <p:nvPr/>
        </p:nvSpPr>
        <p:spPr>
          <a:xfrm>
            <a:off x="877824" y="365760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A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session 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E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reconnects update the same session — no stale duplicates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58368" y="4361688"/>
            <a:ext cx="91440" cy="91440"/>
          </a:xfrm>
          <a:prstGeom prst="ellipse">
            <a:avLst/>
          </a:prstGeom>
          <a:solidFill>
            <a:srgbClr val="4C82F7"/>
          </a:solidFill>
          <a:ln/>
        </p:spPr>
      </p:sp>
      <p:sp>
        <p:nvSpPr>
          <p:cNvPr id="10" name="Text 8"/>
          <p:cNvSpPr/>
          <p:nvPr/>
        </p:nvSpPr>
        <p:spPr>
          <a:xfrm>
            <a:off x="877824" y="4261104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A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guarded_read_files 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E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batches safe reads into one call — fewer IDE prompts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58368" y="4965192"/>
            <a:ext cx="91440" cy="91440"/>
          </a:xfrm>
          <a:prstGeom prst="ellipse">
            <a:avLst/>
          </a:prstGeom>
          <a:solidFill>
            <a:srgbClr val="4C82F7"/>
          </a:solidFill>
          <a:ln/>
        </p:spPr>
      </p:sp>
      <p:sp>
        <p:nvSpPr>
          <p:cNvPr id="12" name="Text 10"/>
          <p:cNvSpPr/>
          <p:nvPr/>
        </p:nvSpPr>
        <p:spPr>
          <a:xfrm>
            <a:off x="877824" y="4864608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A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Individually evaluated 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E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.env inside a batch is still DENIED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58368" y="5568696"/>
            <a:ext cx="91440" cy="91440"/>
          </a:xfrm>
          <a:prstGeom prst="ellipse">
            <a:avLst/>
          </a:prstGeom>
          <a:solidFill>
            <a:srgbClr val="4C82F7"/>
          </a:solidFill>
          <a:ln/>
        </p:spPr>
      </p:sp>
      <p:sp>
        <p:nvSpPr>
          <p:cNvPr id="14" name="Text 12"/>
          <p:cNvSpPr/>
          <p:nvPr/>
        </p:nvSpPr>
        <p:spPr>
          <a:xfrm>
            <a:off x="877824" y="5468112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A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boundary 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E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guards tools routed through it — no silent interception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647688" y="2075688"/>
            <a:ext cx="4901184" cy="3042362"/>
          </a:xfrm>
          <a:prstGeom prst="rect">
            <a:avLst/>
          </a:prstGeom>
          <a:solidFill>
            <a:srgbClr val="121826"/>
          </a:solidFill>
          <a:ln w="12700">
            <a:solidFill>
              <a:srgbClr val="2E3A50"/>
            </a:solidFill>
            <a:prstDash val="solid"/>
          </a:ln>
        </p:spPr>
      </p:sp>
      <p:pic>
        <p:nvPicPr>
          <p:cNvPr id="16" name="Image 0" descr="/Users/kavinsoorya/Documents/Agent-Guard/submission/assets/integr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2103120"/>
            <a:ext cx="4846320" cy="2987498"/>
          </a:xfrm>
          <a:prstGeom prst="rect">
            <a:avLst/>
          </a:prstGeom>
          <a:effectLst>
            <a:outerShdw sx="100000" sy="100000" kx="0" ky="0" algn="bl" rotWithShape="0" blurRad="177800" dist="88900" dir="5400000">
              <a:srgbClr val="000000">
                <a:alpha val="45000"/>
              </a:srgbClr>
            </a:outerShdw>
          </a:effectLst>
        </p:spPr>
      </p:pic>
      <p:sp>
        <p:nvSpPr>
          <p:cNvPr id="17" name="Text 14"/>
          <p:cNvSpPr/>
          <p:nvPr/>
        </p:nvSpPr>
        <p:spPr>
          <a:xfrm>
            <a:off x="6675120" y="519379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6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Connected-agent registry, live — real Antigravity session over MCP.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C8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IT BELONGS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5E6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GUARD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616184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58368" y="11887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A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policy decision point for any agent that touches real systems.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58368" y="2276856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3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709928" y="2295144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A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Coding agents in the IDE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709928" y="269748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350" dirty="0">
                <a:solidFill>
                  <a:srgbClr val="9BA7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Antigravity, Claude Code and similar agents edit files, run commands, and hit the network mid-task. Agent Guard stops secret reads, destructive edits, and exfiltration the moment they're proposed — without slowing safe work.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58368" y="3630168"/>
            <a:ext cx="10881360" cy="0"/>
          </a:xfrm>
          <a:prstGeom prst="line">
            <a:avLst/>
          </a:prstGeom>
          <a:noFill/>
          <a:ln w="12700">
            <a:solidFill>
              <a:srgbClr val="232C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3694176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3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709928" y="3712464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A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tool-using agents &amp; platforms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709928" y="411480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350" dirty="0">
                <a:solidFill>
                  <a:srgbClr val="9BA7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framework where an LLM drives file, shell, database, and HTTP tools gains one place to enforce goal-scoped policy — via the SDK or a direct /guard/evaluate call.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8368" y="5047488"/>
            <a:ext cx="10881360" cy="0"/>
          </a:xfrm>
          <a:prstGeom prst="line">
            <a:avLst/>
          </a:prstGeom>
          <a:noFill/>
          <a:ln w="12700">
            <a:solidFill>
              <a:srgbClr val="232C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5111496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3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709928" y="5129784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A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AI governance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709928" y="553212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350" dirty="0">
                <a:solidFill>
                  <a:srgbClr val="9BA7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redacted, fingerprint-bound, auditable record of every agent action — with human approval on high-impact operations — turns agent autonomy into something a security team can sign off on.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58368" y="6464808"/>
            <a:ext cx="10881360" cy="0"/>
          </a:xfrm>
          <a:prstGeom prst="line">
            <a:avLst/>
          </a:prstGeom>
          <a:noFill/>
          <a:ln w="12700">
            <a:solidFill>
              <a:srgbClr val="232C3D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4008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4C82F7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640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58368" y="2331720"/>
            <a:ext cx="10607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9BA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agents need </a:t>
            </a:r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runtime, goal-aware authorization</a:t>
            </a:r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9BA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</a:t>
            </a:r>
            <a:endParaRPr lang="en-US" sz="4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9BA7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just permission to use a tool.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58368" y="43891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9BA7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Guard makes every action prove it belongs — before it runs.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58368" y="5234026"/>
            <a:ext cx="120701" cy="120701"/>
          </a:xfrm>
          <a:prstGeom prst="ellipse">
            <a:avLst/>
          </a:prstGeom>
          <a:solidFill>
            <a:srgbClr val="35D08A"/>
          </a:solidFill>
          <a:ln/>
        </p:spPr>
      </p:sp>
      <p:sp>
        <p:nvSpPr>
          <p:cNvPr id="7" name="Text 5"/>
          <p:cNvSpPr/>
          <p:nvPr/>
        </p:nvSpPr>
        <p:spPr>
          <a:xfrm>
            <a:off x="833933" y="5146243"/>
            <a:ext cx="1207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20" b="1" spc="100" kern="0" dirty="0">
                <a:solidFill>
                  <a:srgbClr val="35D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ALLOW</a:t>
            </a:r>
            <a:endParaRPr lang="en-US" sz="1320" dirty="0"/>
          </a:p>
        </p:txBody>
      </p:sp>
      <p:sp>
        <p:nvSpPr>
          <p:cNvPr id="8" name="Shape 6"/>
          <p:cNvSpPr/>
          <p:nvPr/>
        </p:nvSpPr>
        <p:spPr>
          <a:xfrm>
            <a:off x="1920240" y="5234026"/>
            <a:ext cx="120701" cy="120701"/>
          </a:xfrm>
          <a:prstGeom prst="ellipse">
            <a:avLst/>
          </a:prstGeom>
          <a:solidFill>
            <a:srgbClr val="F2B04A"/>
          </a:solidFill>
          <a:ln/>
        </p:spPr>
      </p:sp>
      <p:sp>
        <p:nvSpPr>
          <p:cNvPr id="9" name="Text 7"/>
          <p:cNvSpPr/>
          <p:nvPr/>
        </p:nvSpPr>
        <p:spPr>
          <a:xfrm>
            <a:off x="2095805" y="5146243"/>
            <a:ext cx="1207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20" b="1" spc="100" kern="0" dirty="0">
                <a:solidFill>
                  <a:srgbClr val="F2B0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ASK</a:t>
            </a:r>
            <a:endParaRPr lang="en-US" sz="1320" dirty="0"/>
          </a:p>
        </p:txBody>
      </p:sp>
      <p:sp>
        <p:nvSpPr>
          <p:cNvPr id="10" name="Shape 8"/>
          <p:cNvSpPr/>
          <p:nvPr/>
        </p:nvSpPr>
        <p:spPr>
          <a:xfrm>
            <a:off x="3182112" y="5234026"/>
            <a:ext cx="120701" cy="120701"/>
          </a:xfrm>
          <a:prstGeom prst="ellipse">
            <a:avLst/>
          </a:prstGeom>
          <a:solidFill>
            <a:srgbClr val="F0645F"/>
          </a:solidFill>
          <a:ln/>
        </p:spPr>
      </p:sp>
      <p:sp>
        <p:nvSpPr>
          <p:cNvPr id="11" name="Text 9"/>
          <p:cNvSpPr/>
          <p:nvPr/>
        </p:nvSpPr>
        <p:spPr>
          <a:xfrm>
            <a:off x="3357677" y="5146243"/>
            <a:ext cx="1207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20" b="1" spc="100" kern="0" dirty="0">
                <a:solidFill>
                  <a:srgbClr val="F064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DENY</a:t>
            </a:r>
            <a:endParaRPr lang="en-US" sz="1320" dirty="0"/>
          </a:p>
        </p:txBody>
      </p:sp>
      <p:sp>
        <p:nvSpPr>
          <p:cNvPr id="12" name="Text 10"/>
          <p:cNvSpPr/>
          <p:nvPr/>
        </p:nvSpPr>
        <p:spPr>
          <a:xfrm>
            <a:off x="7415784" y="523036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6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github.com/Kavin-ks/Agent-Guard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2026-08-23T09:16:37Z</dcterms:created>
  <dcterms:modified xsi:type="dcterms:W3CDTF">2026-08-23T09:16:37Z</dcterms:modified>
</cp:coreProperties>
</file>